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GHnlDqhnq1qcz7avLItEvoZ5P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5E2904-593C-4268-985E-3CBED9747758}">
  <a:tblStyle styleId="{D45E2904-593C-4268-985E-3CBED97477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7d71d1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77d71d10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77d71d10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77d71d10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7d71d10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77d71d105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a1f21527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9a1f21527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acc89be2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acc89be2a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acc89be2a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acc89be2a_3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0.pn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9.png"/><Relationship Id="rId13" Type="http://schemas.openxmlformats.org/officeDocument/2006/relationships/image" Target="../media/image10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15" Type="http://schemas.openxmlformats.org/officeDocument/2006/relationships/image" Target="../media/image19.png"/><Relationship Id="rId14" Type="http://schemas.openxmlformats.org/officeDocument/2006/relationships/image" Target="../media/image21.png"/><Relationship Id="rId17" Type="http://schemas.openxmlformats.org/officeDocument/2006/relationships/image" Target="../media/image17.png"/><Relationship Id="rId16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085625" y="992898"/>
            <a:ext cx="7633550" cy="5067412"/>
            <a:chOff x="-1" y="-717921"/>
            <a:chExt cx="7633550" cy="5067412"/>
          </a:xfrm>
        </p:grpSpPr>
        <p:sp>
          <p:nvSpPr>
            <p:cNvPr id="92" name="Google Shape;92;p2"/>
            <p:cNvSpPr/>
            <p:nvPr/>
          </p:nvSpPr>
          <p:spPr>
            <a:xfrm>
              <a:off x="-1" y="-717921"/>
              <a:ext cx="7633500" cy="26373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578649" y="-620669"/>
              <a:ext cx="6054900" cy="14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CL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Eugenio Correa</a:t>
              </a:r>
              <a:endPara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285750" marR="0" rtl="0" algn="l">
                <a:lnSpc>
                  <a:spcPct val="90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Char char="•"/>
              </a:pPr>
              <a:r>
                <a:rPr lang="es-CL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 Lead &amp; Cloud Architect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285750" marR="0" rtl="0" algn="l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Char char="•"/>
              </a:pPr>
              <a:r>
                <a:rPr lang="es-CL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de API REST en Django, gestión de Base de Datos MongoDB, configuración de infraestructura en Render y Seguridad (Auth/RBAC).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20318" y="-175582"/>
              <a:ext cx="1526700" cy="16569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2278305"/>
              <a:ext cx="7633494" cy="20711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733817" y="2278305"/>
              <a:ext cx="5899676" cy="2071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CL" sz="3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Álvaro Fredes</a:t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85750" marR="0" rtl="0" algn="l">
                <a:lnSpc>
                  <a:spcPct val="90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Char char="•"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Lead &amp; Mobile Developer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85750" marR="0" rtl="0" algn="l">
                <a:lnSpc>
                  <a:spcPct val="90000"/>
                </a:lnSpc>
                <a:spcBef>
                  <a:spcPts val="465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Char char="•"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interfaz web en React/HTML5, experiencia de usuario (UX/UI), versión móvil y lógica de cliente.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07118" y="2485423"/>
              <a:ext cx="1526698" cy="1656949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1" name="Google Shape;10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625" y="1363250"/>
            <a:ext cx="1551225" cy="1977300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102" name="Google Shape;102;p2" title="Imagen de WhatsApp 2025-12-04 a las 16.49.05_ca9669e6.jpg"/>
          <p:cNvPicPr preferRelativeResize="0"/>
          <p:nvPr/>
        </p:nvPicPr>
        <p:blipFill rotWithShape="1">
          <a:blip r:embed="rId5">
            <a:alphaModFix/>
          </a:blip>
          <a:srcRect b="0" l="0" r="0" t="-11769"/>
          <a:stretch/>
        </p:blipFill>
        <p:spPr>
          <a:xfrm>
            <a:off x="4201625" y="3894600"/>
            <a:ext cx="1628225" cy="19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14900" y="2169775"/>
            <a:ext cx="4348800" cy="43170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Colegio Instituto América presenta una brecha de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crítica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la entrega de notas es desfasada (trimestral), generando incertidumbre en los apoderados y falta de trazabilidad en el rendimiento académico de los alumnos.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5" y="2177325"/>
            <a:ext cx="4348800" cy="4396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EduControl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 ecosistema digital que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 notas, asistencias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retroalimentación continua. La plataforma no solo centraliza la información en la nube, sino que también envía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automáticas y reportes personalizados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apoderados y alumnos, asegurando trazabilidad del rendimiento académico y reduciendo la incertidumbre.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-24" y="38250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de gestión académica escalable utilizando arquitectura Cloud, que centralice la información curricular y facilite la toma de decisiones pedagógicas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25" y="4532650"/>
            <a:ext cx="10962900" cy="177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notas, asistencias, horarios , personas,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por 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 de datos,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y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personalizada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2" name="Google Shape;13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5"/>
          <p:cNvSpPr txBox="1"/>
          <p:nvPr/>
        </p:nvSpPr>
        <p:spPr>
          <a:xfrm>
            <a:off x="0" y="2223150"/>
            <a:ext cx="5498100" cy="28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Alcances del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Gestión de usuarios y roles (RBAC)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Autenticación y seguridad básica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Gestión de cursos, asignaturas y Alumno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Registro de asistencias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Gestión de notas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990525" y="2078975"/>
            <a:ext cx="66474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📌 Limitaciones del Proyecto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 de producción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tiende a dormir el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definitivo ni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dominios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 SMTP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requiere proveedor API (ej. SendGrid/Mailgun)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monolítica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lógica centralizada en server-mongo.js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cola/retries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riesgo en entrega de emails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Conectividad: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utilizar una arquitectura Cloud (Render), el sistema requiere conexión a internet permanente (No posee modo Offline).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0" y="1095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6"/>
          <p:cNvSpPr txBox="1"/>
          <p:nvPr/>
        </p:nvSpPr>
        <p:spPr>
          <a:xfrm>
            <a:off x="366588" y="1648238"/>
            <a:ext cx="117312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Estrategia:</a:t>
            </a:r>
            <a:r>
              <a:rPr lang="es-CL">
                <a:solidFill>
                  <a:schemeClr val="dk1"/>
                </a:solidFill>
              </a:rPr>
              <a:t> Se implementó la metodología ágil </a:t>
            </a:r>
            <a:r>
              <a:rPr b="1" lang="es-CL">
                <a:solidFill>
                  <a:schemeClr val="dk1"/>
                </a:solidFill>
              </a:rPr>
              <a:t>SCRUM / </a:t>
            </a:r>
            <a:r>
              <a:rPr lang="es-CL">
                <a:solidFill>
                  <a:schemeClr val="dk1"/>
                </a:solidFill>
              </a:rPr>
              <a:t>híbrida</a:t>
            </a:r>
            <a:r>
              <a:rPr lang="es-CL">
                <a:solidFill>
                  <a:schemeClr val="dk1"/>
                </a:solidFill>
              </a:rPr>
              <a:t>, estructurando el ciclo de vida del software en iteraciones cortas y manejables.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Estructura del Trabajo:</a:t>
            </a:r>
            <a:r>
              <a:rPr lang="es-CL">
                <a:solidFill>
                  <a:schemeClr val="dk1"/>
                </a:solidFill>
              </a:rPr>
              <a:t> El proyecto se dividió en </a:t>
            </a:r>
            <a:r>
              <a:rPr b="1" lang="es-CL">
                <a:solidFill>
                  <a:schemeClr val="dk1"/>
                </a:solidFill>
              </a:rPr>
              <a:t>3 Grandes Fases</a:t>
            </a:r>
            <a:r>
              <a:rPr lang="es-CL">
                <a:solidFill>
                  <a:schemeClr val="dk1"/>
                </a:solidFill>
              </a:rPr>
              <a:t> para asegurar entregables tangibles: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s-CL">
                <a:solidFill>
                  <a:schemeClr val="dk1"/>
                </a:solidFill>
              </a:rPr>
              <a:t>Fase 1 (Semanas 1-4):</a:t>
            </a:r>
            <a:r>
              <a:rPr lang="es-CL">
                <a:solidFill>
                  <a:schemeClr val="dk1"/>
                </a:solidFill>
              </a:rPr>
              <a:t> Definición de Arquitectura, Diseño UX/UI y Modelo de Datos.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s-CL">
                <a:solidFill>
                  <a:schemeClr val="dk1"/>
                </a:solidFill>
              </a:rPr>
              <a:t>Fase 2 (Semanas 5-9):</a:t>
            </a:r>
            <a:r>
              <a:rPr lang="es-CL">
                <a:solidFill>
                  <a:schemeClr val="dk1"/>
                </a:solidFill>
              </a:rPr>
              <a:t> Codificación del Núcleo (Backend/API) y Desarrollo de Interfaces (Frontend Web/Móvil).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s-CL">
                <a:solidFill>
                  <a:schemeClr val="dk1"/>
                </a:solidFill>
              </a:rPr>
              <a:t>Fase 3 (Semanas 10-15):</a:t>
            </a:r>
            <a:r>
              <a:rPr lang="es-CL">
                <a:solidFill>
                  <a:schemeClr val="dk1"/>
                </a:solidFill>
              </a:rPr>
              <a:t> Aseguramiento de Calidad (QA), Despliegue en Nube y Cierre.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144" name="Google Shape;144;p6"/>
          <p:cNvGraphicFramePr/>
          <p:nvPr/>
        </p:nvGraphicFramePr>
        <p:xfrm>
          <a:off x="398700" y="366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{D45E2904-593C-4268-985E-3CBED9747758}</a:tableStyleId>
              </a:tblPr>
              <a:tblGrid>
                <a:gridCol w="1299500"/>
                <a:gridCol w="1385525"/>
                <a:gridCol w="2197700"/>
                <a:gridCol w="6077100"/>
              </a:tblGrid>
              <a:tr h="34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Periodo (Sprint)</a:t>
                      </a:r>
                      <a:endParaRPr sz="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Rango de Fechas</a:t>
                      </a:r>
                      <a:endParaRPr sz="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Fases/Hitos</a:t>
                      </a:r>
                      <a:endParaRPr sz="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Entregable (Incremento)</a:t>
                      </a:r>
                      <a:endParaRPr sz="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S1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05/Sep – 19/Sep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0: Requisitos y Preparación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Acta de Constitución firmada, ERS (Especificación de Requerimientos), Product Backlog inicial.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S2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22/Sep – 03/Oct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1: MVP - Módulo de Seguridad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Autenticación funcional (Login/Logout) y Control de Acceso por Roles (RBAC).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S3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06/Oct – 17/Oct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1: MVP - Gestión Académica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CRUD para Usuarios, Cursos y Asignaturas. Módulo de Importación inicial de datos CSV.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S4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20/Oct – 31/Oct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1: MVP - Funcionalidad Central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Editor de notas (borrador/publicado) y Registro de asistencias. Hito: Entrega de MVP en entorno Staging.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S5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03/Nov – 14/Nov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2: Reportes y Calidad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Realización de dashboard para perfil de tutor y Pruebas de Calidad (QA).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S6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17/Nov – 28/Nov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3: Cierre y Despliegue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Manuales de usuario, Capacitación y Despliegue final a producción. Fin del proyecto (28/Nov).</a:t>
                      </a:r>
                      <a:endParaRPr sz="12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6"/>
          <p:cNvSpPr txBox="1"/>
          <p:nvPr/>
        </p:nvSpPr>
        <p:spPr>
          <a:xfrm>
            <a:off x="-94212" y="31057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" y="893131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y Control del Cronograma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7"/>
          <p:cNvSpPr txBox="1"/>
          <p:nvPr/>
        </p:nvSpPr>
        <p:spPr>
          <a:xfrm>
            <a:off x="-137236" y="1395556"/>
            <a:ext cx="121920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basada en Carta Gantt</a:t>
            </a:r>
            <a:endParaRPr sz="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512675" y="2197563"/>
            <a:ext cx="5851800" cy="3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Herramienta de Control:</a:t>
            </a:r>
            <a:r>
              <a:rPr lang="es-CL" sz="1700">
                <a:solidFill>
                  <a:schemeClr val="dk1"/>
                </a:solidFill>
              </a:rPr>
              <a:t> Se utilizó la </a:t>
            </a:r>
            <a:r>
              <a:rPr b="1" lang="es-CL" sz="1700">
                <a:solidFill>
                  <a:schemeClr val="dk1"/>
                </a:solidFill>
              </a:rPr>
              <a:t>Carta Gantt</a:t>
            </a:r>
            <a:r>
              <a:rPr lang="es-CL" sz="1700">
                <a:solidFill>
                  <a:schemeClr val="dk1"/>
                </a:solidFill>
              </a:rPr>
              <a:t> como la "Fuente de Verdad" del proyecto.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Mecanismo de Seguimiento: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Revisión Semanal:</a:t>
            </a:r>
            <a:r>
              <a:rPr lang="es-CL" sz="1700">
                <a:solidFill>
                  <a:schemeClr val="dk1"/>
                </a:solidFill>
              </a:rPr>
              <a:t> Cotejo del porcentaje de avance real de las tareas vs. lo planificado en la Gantt.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Gestión de Hitos:</a:t>
            </a:r>
            <a:r>
              <a:rPr lang="es-CL" sz="1700">
                <a:solidFill>
                  <a:schemeClr val="dk1"/>
                </a:solidFill>
              </a:rPr>
              <a:t> Enfoque en cumplir las fechas críticas (Milestones), como la entrega del MVP en la Semana 9 y el inicio de QA en la Semana 10.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Manejo de Desviaciones:</a:t>
            </a:r>
            <a:r>
              <a:rPr lang="es-CL" sz="1700">
                <a:solidFill>
                  <a:schemeClr val="dk1"/>
                </a:solidFill>
              </a:rPr>
              <a:t> Ante cualquier retraso técnico (ej. configuración inicial de Render), se ajustaron las holguras de la semana siguiente para no impactar la fecha final de entrega (05/12).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00" y="2182875"/>
            <a:ext cx="4935100" cy="382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136188" y="857355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64" name="Google Shape;164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Tabla&#10;&#10;El contenido generado por IA puede ser incorrecto." id="165" name="Google Shape;16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50" y="1484550"/>
            <a:ext cx="8895756" cy="537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9775200" y="1873146"/>
            <a:ext cx="189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/>
              <a:t>Vista de Procesos</a:t>
            </a:r>
            <a:endParaRPr sz="1900"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g3a77d71d105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a77d71d105_0_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73" name="Google Shape;173;g3a77d71d105_0_4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g3a77d71d105_0_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g3a77d71d105_0_4"/>
          <p:cNvSpPr txBox="1"/>
          <p:nvPr/>
        </p:nvSpPr>
        <p:spPr>
          <a:xfrm>
            <a:off x="7165375" y="2514008"/>
            <a:ext cx="432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/>
              <a:t>Vista </a:t>
            </a:r>
            <a:r>
              <a:rPr lang="es-CL" sz="1900"/>
              <a:t>Física</a:t>
            </a:r>
            <a:endParaRPr sz="1900"/>
          </a:p>
        </p:txBody>
      </p:sp>
      <p:pic>
        <p:nvPicPr>
          <p:cNvPr id="176" name="Google Shape;176;g3a77d71d105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241" y="2598225"/>
            <a:ext cx="7299710" cy="403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1" name="Google Shape;181;g3a77d71d105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a77d71d105_0_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83" name="Google Shape;183;g3a77d71d105_0_15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g3a77d71d105_0_15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g3a77d71d105_0_15"/>
          <p:cNvSpPr txBox="1"/>
          <p:nvPr/>
        </p:nvSpPr>
        <p:spPr>
          <a:xfrm>
            <a:off x="7165375" y="2514008"/>
            <a:ext cx="432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/>
              <a:t>Vista de Desarrollo</a:t>
            </a:r>
            <a:endParaRPr sz="1900"/>
          </a:p>
        </p:txBody>
      </p:sp>
      <p:pic>
        <p:nvPicPr>
          <p:cNvPr descr="Diagrama&#10;&#10;El contenido generado por IA puede ser incorrecto." id="186" name="Google Shape;186;g3a77d71d105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825" y="2514000"/>
            <a:ext cx="620105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g3a77d71d10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a77d71d105_0_2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193" name="Google Shape;193;g3a77d71d105_0_26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94" name="Google Shape;194;g3a77d71d105_0_2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g3a77d71d105_0_26"/>
          <p:cNvSpPr txBox="1"/>
          <p:nvPr/>
        </p:nvSpPr>
        <p:spPr>
          <a:xfrm>
            <a:off x="7165375" y="2514008"/>
            <a:ext cx="432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/>
              <a:t>Casos de uso</a:t>
            </a:r>
            <a:endParaRPr sz="1900"/>
          </a:p>
        </p:txBody>
      </p:sp>
      <p:pic>
        <p:nvPicPr>
          <p:cNvPr descr="Diagrama&#10;&#10;El contenido generado por IA puede ser incorrecto." id="196" name="Google Shape;196;g3a77d71d105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50" y="2407275"/>
            <a:ext cx="7351899" cy="40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204" name="Google Shape;20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5" name="Google Shape;20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825" y="2078975"/>
            <a:ext cx="9946275" cy="46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“EDUCONTROL”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0" y="8381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13" name="Google Shape;213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4" name="Google Shape;21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799" y="2621600"/>
            <a:ext cx="892783" cy="8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4362" y="2621602"/>
            <a:ext cx="1051475" cy="10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5550" y="2225249"/>
            <a:ext cx="1817601" cy="823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31512" y="3241100"/>
            <a:ext cx="2084275" cy="116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7350" y="2329075"/>
            <a:ext cx="1051476" cy="105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6838" y="2225261"/>
            <a:ext cx="1497700" cy="125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48950" y="2409562"/>
            <a:ext cx="1277184" cy="10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0"/>
          <p:cNvPicPr preferRelativeResize="0"/>
          <p:nvPr/>
        </p:nvPicPr>
        <p:blipFill rotWithShape="1">
          <a:blip r:embed="rId11">
            <a:alphaModFix/>
          </a:blip>
          <a:srcRect b="29790" l="0" r="0" t="17771"/>
          <a:stretch/>
        </p:blipFill>
        <p:spPr>
          <a:xfrm>
            <a:off x="5071300" y="4674450"/>
            <a:ext cx="1817625" cy="7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61325" y="2553826"/>
            <a:ext cx="1051476" cy="105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0"/>
          <p:cNvPicPr preferRelativeResize="0"/>
          <p:nvPr/>
        </p:nvPicPr>
        <p:blipFill rotWithShape="1">
          <a:blip r:embed="rId13">
            <a:alphaModFix/>
          </a:blip>
          <a:srcRect b="27042" l="0" r="0" t="29792"/>
          <a:stretch/>
        </p:blipFill>
        <p:spPr>
          <a:xfrm>
            <a:off x="5483325" y="3728437"/>
            <a:ext cx="1497701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99906" y="5566325"/>
            <a:ext cx="892775" cy="89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32725" y="5486950"/>
            <a:ext cx="1051500" cy="10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772150" y="4710188"/>
            <a:ext cx="1051500" cy="85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130425" y="4744024"/>
            <a:ext cx="785350" cy="7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 txBox="1"/>
          <p:nvPr/>
        </p:nvSpPr>
        <p:spPr>
          <a:xfrm>
            <a:off x="277350" y="1583617"/>
            <a:ext cx="354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 sz="2600"/>
          </a:p>
        </p:txBody>
      </p:sp>
      <p:sp>
        <p:nvSpPr>
          <p:cNvPr id="229" name="Google Shape;229;p10"/>
          <p:cNvSpPr txBox="1"/>
          <p:nvPr/>
        </p:nvSpPr>
        <p:spPr>
          <a:xfrm>
            <a:off x="4705800" y="1673448"/>
            <a:ext cx="3252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Móvil e Híbrido</a:t>
            </a:r>
            <a:endParaRPr sz="2600"/>
          </a:p>
        </p:txBody>
      </p:sp>
      <p:sp>
        <p:nvSpPr>
          <p:cNvPr id="230" name="Google Shape;230;p10"/>
          <p:cNvSpPr txBox="1"/>
          <p:nvPr/>
        </p:nvSpPr>
        <p:spPr>
          <a:xfrm>
            <a:off x="8247500" y="1670173"/>
            <a:ext cx="32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y Runtime</a:t>
            </a:r>
            <a:endParaRPr sz="2600"/>
          </a:p>
        </p:txBody>
      </p:sp>
      <p:sp>
        <p:nvSpPr>
          <p:cNvPr id="231" name="Google Shape;231;p10"/>
          <p:cNvSpPr txBox="1"/>
          <p:nvPr/>
        </p:nvSpPr>
        <p:spPr>
          <a:xfrm>
            <a:off x="8258200" y="3182710"/>
            <a:ext cx="32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2600"/>
          </a:p>
        </p:txBody>
      </p:sp>
      <p:sp>
        <p:nvSpPr>
          <p:cNvPr id="232" name="Google Shape;232;p10"/>
          <p:cNvSpPr txBox="1"/>
          <p:nvPr/>
        </p:nvSpPr>
        <p:spPr>
          <a:xfrm>
            <a:off x="4469850" y="4296935"/>
            <a:ext cx="32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 sz="2600"/>
          </a:p>
        </p:txBody>
      </p:sp>
      <p:sp>
        <p:nvSpPr>
          <p:cNvPr id="233" name="Google Shape;233;p10"/>
          <p:cNvSpPr txBox="1"/>
          <p:nvPr/>
        </p:nvSpPr>
        <p:spPr>
          <a:xfrm>
            <a:off x="8124675" y="4281435"/>
            <a:ext cx="325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2600"/>
          </a:p>
        </p:txBody>
      </p:sp>
      <p:sp>
        <p:nvSpPr>
          <p:cNvPr id="234" name="Google Shape;234;p10"/>
          <p:cNvSpPr txBox="1"/>
          <p:nvPr/>
        </p:nvSpPr>
        <p:spPr>
          <a:xfrm>
            <a:off x="425700" y="4593025"/>
            <a:ext cx="366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Desarrollo </a:t>
            </a:r>
            <a:endParaRPr sz="2600"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529876" y="1186570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529875" y="2128050"/>
            <a:ext cx="10593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Plataforma 100% Operativa:</a:t>
            </a:r>
            <a:r>
              <a:rPr lang="es-CL" sz="1600">
                <a:solidFill>
                  <a:schemeClr val="dk1"/>
                </a:solidFill>
              </a:rPr>
              <a:t> Despliegue exitoso en la nube (Render) accesible vía web y móvil sin necesidad de servidores locales.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Integridad de Datos:</a:t>
            </a:r>
            <a:r>
              <a:rPr lang="es-CL" sz="1600">
                <a:solidFill>
                  <a:schemeClr val="dk1"/>
                </a:solidFill>
              </a:rPr>
              <a:t> Migración exitosa de la matrícula histórica del colegio a base de datos NoSQL (MongoDB), permitiendo escalabilidad.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Exactitud Académica:</a:t>
            </a:r>
            <a:r>
              <a:rPr lang="es-CL" sz="1600">
                <a:solidFill>
                  <a:schemeClr val="dk1"/>
                </a:solidFill>
              </a:rPr>
              <a:t> Validación matemática del módulo de cálculo de notas y promedios, coincidiendo con el reglamento de evaluación del colegio.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Seguridad Implementada:</a:t>
            </a:r>
            <a:r>
              <a:rPr lang="es-CL" sz="1600">
                <a:solidFill>
                  <a:schemeClr val="dk1"/>
                </a:solidFill>
              </a:rPr>
              <a:t> Sistema de roles (RBAC) funcional, asegurando que alumnos, apoderados y profesores vean solo la información que les corresponde.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Documentación Completa:</a:t>
            </a:r>
            <a:r>
              <a:rPr lang="es-CL" sz="1600">
                <a:solidFill>
                  <a:schemeClr val="dk1"/>
                </a:solidFill>
              </a:rPr>
              <a:t> Entrega de manuales de usuario y documentación técnica (API Docs) para facilitar la continuidad.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2" name="Google Shape;2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1" y="992898"/>
            <a:ext cx="12192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 y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13"/>
          <p:cNvGraphicFramePr/>
          <p:nvPr/>
        </p:nvGraphicFramePr>
        <p:xfrm>
          <a:off x="306163" y="2763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{D45E2904-593C-4268-985E-3CBED9747758}</a:tableStyleId>
              </a:tblPr>
              <a:tblGrid>
                <a:gridCol w="1891950"/>
                <a:gridCol w="4106900"/>
                <a:gridCol w="5749650"/>
              </a:tblGrid>
              <a:tr h="34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1F1F1F"/>
                          </a:solidFill>
                        </a:rPr>
                        <a:t>Obstáculo / Desafío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1F1F1F"/>
                          </a:solidFill>
                        </a:rPr>
                        <a:t>Impacto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1F1F1F"/>
                          </a:solidFill>
                        </a:rPr>
                        <a:t>Solución Implementada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1F1F1F"/>
                          </a:solidFill>
                        </a:rPr>
                        <a:t>Latencia "Cold Start"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Los servicios gratuitos en la nube tardan ~50s en iniciar tras inactividad.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Implementación de sistema de monitoreo ("Ping") y </a:t>
                      </a:r>
                      <a:r>
                        <a:rPr i="1" lang="es-CL">
                          <a:solidFill>
                            <a:srgbClr val="1F1F1F"/>
                          </a:solidFill>
                        </a:rPr>
                        <a:t>loaders</a:t>
                      </a:r>
                      <a:r>
                        <a:rPr lang="es-CL">
                          <a:solidFill>
                            <a:srgbClr val="1F1F1F"/>
                          </a:solidFill>
                        </a:rPr>
                        <a:t> visuales para mejorar la experiencia de espera.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rgbClr val="1F1F1F"/>
                          </a:solidFill>
                        </a:rPr>
                        <a:t>Resistencia al Cambio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Docentes acostumbrados al uso de papel.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Diseño de interfaz simplificada (UX) y capacitación presencial enfocada en flujos rápidos.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Seguridad de Datos</a:t>
                      </a:r>
                      <a:endParaRPr b="1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Acceso no autorizado de alumnos.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</a:rPr>
                        <a:t>Arquitectura RBAC (Roles) estricta en cada petición</a:t>
                      </a:r>
                      <a:endParaRPr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9" name="Google Shape;259;g39a1f215279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9a1f215279_0_3"/>
          <p:cNvSpPr txBox="1"/>
          <p:nvPr/>
        </p:nvSpPr>
        <p:spPr>
          <a:xfrm>
            <a:off x="-1509399" y="1138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Costos</a:t>
            </a:r>
            <a:endParaRPr/>
          </a:p>
        </p:txBody>
      </p:sp>
      <p:sp>
        <p:nvSpPr>
          <p:cNvPr id="261" name="Google Shape;261;g39a1f215279_0_3"/>
          <p:cNvSpPr txBox="1"/>
          <p:nvPr/>
        </p:nvSpPr>
        <p:spPr>
          <a:xfrm>
            <a:off x="328250" y="992900"/>
            <a:ext cx="555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/>
              <a:t>Valorización del Proyecto (Inversión Intelectual)</a:t>
            </a:r>
            <a:endParaRPr sz="1800"/>
          </a:p>
        </p:txBody>
      </p:sp>
      <p:graphicFrame>
        <p:nvGraphicFramePr>
          <p:cNvPr id="262" name="Google Shape;262;g39a1f215279_0_3"/>
          <p:cNvGraphicFramePr/>
          <p:nvPr/>
        </p:nvGraphicFramePr>
        <p:xfrm>
          <a:off x="229675" y="1564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{D45E2904-593C-4268-985E-3CBED9747758}</a:tableStyleId>
              </a:tblPr>
              <a:tblGrid>
                <a:gridCol w="2587775"/>
                <a:gridCol w="3902875"/>
                <a:gridCol w="2958975"/>
                <a:gridCol w="20893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Concepto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Detalle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Cálculo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Costo Total Valorizado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Recursos Humanos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2 Desarrolladores Full Stack (3 Meses)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2 Devs x $900.000 x 3 Meses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$5.400.000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Gastos de Puesta en Marcha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Dominio .cl, Material de Capacitación e Insumos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Gasto real efectuado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$165.000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Configuración Cloud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Setup inicial de Arquitectura (Render/Mongo)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Tarifa única de mercado (Estimada)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$250.000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VALOR TOTAL DEL ACTIVO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$5.815.000 CLP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3" name="Google Shape;263;g39a1f215279_0_3"/>
          <p:cNvGraphicFramePr/>
          <p:nvPr/>
        </p:nvGraphicFramePr>
        <p:xfrm>
          <a:off x="229675" y="382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{D45E2904-593C-4268-985E-3CBED9747758}</a:tableStyleId>
              </a:tblPr>
              <a:tblGrid>
                <a:gridCol w="1326525"/>
                <a:gridCol w="2389575"/>
                <a:gridCol w="3107325"/>
                <a:gridCol w="4715500"/>
              </a:tblGrid>
              <a:tr h="48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Ítem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Escenario A: Actual (MVP Académico)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Escenario B: Recomendado (Producción Premium)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Diferencia y Beneficio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8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Hosting Backend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(Render Free Tier)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~$6.800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($7 USD/mes)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El plan de pago elimina el "Cold Start" (espera de 50s) y mantiene el sitio siempre rápido.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Base de Datos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(MongoDB Sandbox)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~$8.700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($9 USD/mes)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El plan de pago incluye </a:t>
                      </a: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Backups Automáticos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diarios y soporte técnico.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Dominio Web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$1.250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(Prorrateado mensual)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$1.250</a:t>
                      </a: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 (Prorrateado mensual)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solidFill>
                            <a:srgbClr val="1F1F1F"/>
                          </a:solidFill>
                        </a:rPr>
                        <a:t>Costo fijo anual de NIC Chile.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TOTAL MENSUAL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$1.250 CLP / mes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~$16.750 CLP / mes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1F1F1F"/>
                          </a:solidFill>
                        </a:rPr>
                        <a:t>Por menos de 0.5 UF al mes, se asegura rendimiento y seguridad total.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g39a1f215279_0_3"/>
          <p:cNvSpPr txBox="1"/>
          <p:nvPr/>
        </p:nvSpPr>
        <p:spPr>
          <a:xfrm>
            <a:off x="328250" y="3411000"/>
            <a:ext cx="52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/>
              <a:t>Costos de Operación: Escenario Actual vs. Ideal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9" name="Google Shape;269;g3aacc89be2a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acc89be2a_3_0"/>
          <p:cNvSpPr txBox="1"/>
          <p:nvPr/>
        </p:nvSpPr>
        <p:spPr>
          <a:xfrm>
            <a:off x="-1306424" y="2879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</a:t>
            </a:r>
            <a:endParaRPr/>
          </a:p>
        </p:txBody>
      </p:sp>
      <p:sp>
        <p:nvSpPr>
          <p:cNvPr id="271" name="Google Shape;271;g3aacc89be2a_3_0"/>
          <p:cNvSpPr txBox="1"/>
          <p:nvPr/>
        </p:nvSpPr>
        <p:spPr>
          <a:xfrm>
            <a:off x="940650" y="1635750"/>
            <a:ext cx="84330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Definir bien los requerimientos desde el inicio evita retrabajos.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Dividir tareas y coordinar avances fue clave al trabajar solo dos integrantes.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Estandarizar API, diseño y estructura facilitó integrar Web + Móvil.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Uso correcto de Git evitó perder código y mejoró la organización.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Probar cada módulo a medida que avanzamos redujo errores finales.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Documentar durante el desarrollo ahorró tiempo en la entrega.</a:t>
            </a:r>
            <a:br>
              <a:rPr lang="es-CL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CL" sz="1700"/>
              <a:t>Comunicación constante permitió resolver problemas más rápido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6" name="Google Shape;276;g3aacc89be2a_3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aacc89be2a_3_7"/>
          <p:cNvSpPr txBox="1"/>
          <p:nvPr/>
        </p:nvSpPr>
        <p:spPr>
          <a:xfrm>
            <a:off x="-87574" y="2642798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Agradecimientos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