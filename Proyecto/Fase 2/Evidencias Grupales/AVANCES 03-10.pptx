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Proxima Nova Bold" charset="1" panose="02000506030000020004"/>
      <p:regular r:id="rId12"/>
    </p:embeddedFont>
    <p:embeddedFont>
      <p:font typeface="TT Hoves Bold" charset="1" panose="02000003020000060003"/>
      <p:regular r:id="rId13"/>
    </p:embeddedFont>
    <p:embeddedFont>
      <p:font typeface="Proxima Nova" charset="1" panose="02000506030000020004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Relationship Id="rId3" Target="../media/image14.jpeg" Type="http://schemas.openxmlformats.org/officeDocument/2006/relationships/image"/><Relationship Id="rId4" Target="../media/image15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675190" y="3299275"/>
            <a:ext cx="8412998" cy="6760096"/>
          </a:xfrm>
          <a:custGeom>
            <a:avLst/>
            <a:gdLst/>
            <a:ahLst/>
            <a:cxnLst/>
            <a:rect r="r" b="b" t="t" l="l"/>
            <a:pathLst>
              <a:path h="6760096" w="8412998">
                <a:moveTo>
                  <a:pt x="0" y="0"/>
                </a:moveTo>
                <a:lnTo>
                  <a:pt x="8412998" y="0"/>
                </a:lnTo>
                <a:lnTo>
                  <a:pt x="8412998" y="6760095"/>
                </a:lnTo>
                <a:lnTo>
                  <a:pt x="0" y="67600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904" t="0" r="-935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196442" y="3516885"/>
            <a:ext cx="7370495" cy="4141102"/>
            <a:chOff x="0" y="0"/>
            <a:chExt cx="9827326" cy="5521469"/>
          </a:xfrm>
        </p:grpSpPr>
        <p:pic>
          <p:nvPicPr>
            <p:cNvPr name="Picture 4" id="4"/>
            <p:cNvPicPr>
              <a:picLocks noChangeAspect="true"/>
            </p:cNvPicPr>
            <p:nvPr/>
          </p:nvPicPr>
          <p:blipFill>
            <a:blip r:embed="rId3"/>
            <a:srcRect l="0" t="7861" r="0" b="7861"/>
            <a:stretch>
              <a:fillRect/>
            </a:stretch>
          </p:blipFill>
          <p:spPr>
            <a:xfrm flipH="false" flipV="false">
              <a:off x="0" y="0"/>
              <a:ext cx="9827326" cy="5521469"/>
            </a:xfrm>
            <a:prstGeom prst="rect">
              <a:avLst/>
            </a:prstGeom>
          </p:spPr>
        </p:pic>
      </p:grpSp>
      <p:sp>
        <p:nvSpPr>
          <p:cNvPr name="Freeform 5" id="5"/>
          <p:cNvSpPr/>
          <p:nvPr/>
        </p:nvSpPr>
        <p:spPr>
          <a:xfrm flipH="false" flipV="false" rot="0">
            <a:off x="9844539" y="0"/>
            <a:ext cx="8443461" cy="2129062"/>
          </a:xfrm>
          <a:custGeom>
            <a:avLst/>
            <a:gdLst/>
            <a:ahLst/>
            <a:cxnLst/>
            <a:rect r="r" b="b" t="t" l="l"/>
            <a:pathLst>
              <a:path h="2129062" w="8443461">
                <a:moveTo>
                  <a:pt x="0" y="0"/>
                </a:moveTo>
                <a:lnTo>
                  <a:pt x="8443461" y="0"/>
                </a:lnTo>
                <a:lnTo>
                  <a:pt x="8443461" y="2129062"/>
                </a:lnTo>
                <a:lnTo>
                  <a:pt x="0" y="21290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4459611"/>
            <a:ext cx="7412410" cy="1322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29"/>
              </a:lnSpc>
            </a:pPr>
            <a:r>
              <a:rPr lang="en-US" sz="10699" spc="-534" b="true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EduControl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085014" y="5625536"/>
            <a:ext cx="4869061" cy="676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8"/>
              </a:lnSpc>
            </a:pPr>
            <a:r>
              <a:rPr lang="en-US" sz="2503" b="true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Eugenio Correa - Alvaro Fredes </a:t>
            </a:r>
          </a:p>
          <a:p>
            <a:pPr algn="ctr">
              <a:lnSpc>
                <a:spcPts val="2628"/>
              </a:lnSpc>
              <a:spcBef>
                <a:spcPct val="0"/>
              </a:spcBef>
            </a:pPr>
            <a:r>
              <a:rPr lang="en-US" b="true" sz="2503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03-10-2025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7696" y="-4508451"/>
            <a:ext cx="20710473" cy="15957466"/>
            <a:chOff x="0" y="0"/>
            <a:chExt cx="6186311" cy="47665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186311" cy="4766567"/>
            </a:xfrm>
            <a:custGeom>
              <a:avLst/>
              <a:gdLst/>
              <a:ahLst/>
              <a:cxnLst/>
              <a:rect r="r" b="b" t="t" l="l"/>
              <a:pathLst>
                <a:path h="4766567" w="6186311">
                  <a:moveTo>
                    <a:pt x="0" y="0"/>
                  </a:moveTo>
                  <a:lnTo>
                    <a:pt x="0" y="4766567"/>
                  </a:lnTo>
                  <a:lnTo>
                    <a:pt x="6186311" y="4766567"/>
                  </a:lnTo>
                  <a:lnTo>
                    <a:pt x="6186311" y="0"/>
                  </a:lnTo>
                  <a:lnTo>
                    <a:pt x="0" y="0"/>
                  </a:lnTo>
                  <a:close/>
                  <a:moveTo>
                    <a:pt x="6125351" y="4705607"/>
                  </a:moveTo>
                  <a:lnTo>
                    <a:pt x="59690" y="4705607"/>
                  </a:lnTo>
                  <a:lnTo>
                    <a:pt x="59690" y="59690"/>
                  </a:lnTo>
                  <a:lnTo>
                    <a:pt x="6125351" y="59690"/>
                  </a:lnTo>
                  <a:lnTo>
                    <a:pt x="6125351" y="4705607"/>
                  </a:lnTo>
                  <a:close/>
                </a:path>
              </a:pathLst>
            </a:custGeom>
            <a:solidFill>
              <a:srgbClr val="FDFDFD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229377" y="2428137"/>
            <a:ext cx="2957544" cy="2528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0778"/>
              </a:lnSpc>
            </a:pPr>
            <a:r>
              <a:rPr lang="en-US" sz="14841" spc="742">
                <a:solidFill>
                  <a:srgbClr val="FF009D"/>
                </a:solidFill>
                <a:latin typeface="Proxima Nova"/>
                <a:ea typeface="Proxima Nova"/>
                <a:cs typeface="Proxima Nova"/>
                <a:sym typeface="Proxima Nova"/>
              </a:rPr>
              <a:t>01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4744721"/>
            <a:ext cx="2904146" cy="521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40"/>
              </a:lnSpc>
            </a:pPr>
            <a:r>
              <a:rPr lang="en-US" sz="3100" spc="-62" b="true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PROBLEMATICA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114984" y="2272665"/>
            <a:ext cx="2601222" cy="2529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0719"/>
              </a:lnSpc>
            </a:pPr>
            <a:r>
              <a:rPr lang="en-US" sz="14799" spc="739">
                <a:solidFill>
                  <a:srgbClr val="FF009D"/>
                </a:solidFill>
                <a:latin typeface="Proxima Nova"/>
                <a:ea typeface="Proxima Nova"/>
                <a:cs typeface="Proxima Nova"/>
                <a:sym typeface="Proxima Nova"/>
              </a:rPr>
              <a:t>02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048768" y="2333943"/>
            <a:ext cx="2659178" cy="2529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0719"/>
              </a:lnSpc>
            </a:pPr>
            <a:r>
              <a:rPr lang="en-US" sz="14799" spc="739">
                <a:solidFill>
                  <a:srgbClr val="FF009D"/>
                </a:solidFill>
                <a:latin typeface="Proxima Nova"/>
                <a:ea typeface="Proxima Nova"/>
                <a:cs typeface="Proxima Nova"/>
                <a:sym typeface="Proxima Nova"/>
              </a:rPr>
              <a:t>03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355216" y="4582795"/>
            <a:ext cx="2904146" cy="1064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sz="3099" spc="-61" b="true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ESTADO DE AVANCE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65010" y="852819"/>
            <a:ext cx="18419034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00"/>
              </a:lnSpc>
            </a:pPr>
            <a:r>
              <a:rPr lang="en-US" sz="8000" spc="-400" b="true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TEMAS A VER EN ESTA PRESENTACIÓN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829196" y="2428137"/>
            <a:ext cx="2659178" cy="2529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0719"/>
              </a:lnSpc>
            </a:pPr>
            <a:r>
              <a:rPr lang="en-US" sz="14799" spc="739">
                <a:solidFill>
                  <a:srgbClr val="FF009D"/>
                </a:solidFill>
                <a:latin typeface="Proxima Nova"/>
                <a:ea typeface="Proxima Nova"/>
                <a:cs typeface="Proxima Nova"/>
                <a:sym typeface="Proxima Nova"/>
              </a:rPr>
              <a:t>04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3185278" y="9000322"/>
            <a:ext cx="5102722" cy="1286678"/>
          </a:xfrm>
          <a:custGeom>
            <a:avLst/>
            <a:gdLst/>
            <a:ahLst/>
            <a:cxnLst/>
            <a:rect r="r" b="b" t="t" l="l"/>
            <a:pathLst>
              <a:path h="1286678" w="5102722">
                <a:moveTo>
                  <a:pt x="0" y="0"/>
                </a:moveTo>
                <a:lnTo>
                  <a:pt x="5102722" y="0"/>
                </a:lnTo>
                <a:lnTo>
                  <a:pt x="5102722" y="1286678"/>
                </a:lnTo>
                <a:lnTo>
                  <a:pt x="0" y="12866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2510865" y="4543425"/>
            <a:ext cx="3295840" cy="1064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sz="3099" spc="-61" b="true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COMPROMISOS </a:t>
            </a:r>
          </a:p>
          <a:p>
            <a:pPr algn="l">
              <a:lnSpc>
                <a:spcPts val="4339"/>
              </a:lnSpc>
            </a:pPr>
            <a:r>
              <a:rPr lang="en-US" sz="3099" spc="-61" b="true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PROXIMA SESIÓN 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144000" y="4523106"/>
            <a:ext cx="3295840" cy="1889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3599" spc="-71" b="true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MODELO ENTIDAD  RELACIÓN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6186311" cy="3479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186311" cy="3479800"/>
            </a:xfrm>
            <a:custGeom>
              <a:avLst/>
              <a:gdLst/>
              <a:ahLst/>
              <a:cxnLst/>
              <a:rect r="r" b="b" t="t" l="l"/>
              <a:pathLst>
                <a:path h="3479800" w="6186311">
                  <a:moveTo>
                    <a:pt x="0" y="0"/>
                  </a:moveTo>
                  <a:lnTo>
                    <a:pt x="0" y="3479800"/>
                  </a:lnTo>
                  <a:lnTo>
                    <a:pt x="6186311" y="3479800"/>
                  </a:lnTo>
                  <a:lnTo>
                    <a:pt x="6186311" y="0"/>
                  </a:lnTo>
                  <a:lnTo>
                    <a:pt x="0" y="0"/>
                  </a:lnTo>
                  <a:close/>
                  <a:moveTo>
                    <a:pt x="6125351" y="3418840"/>
                  </a:moveTo>
                  <a:lnTo>
                    <a:pt x="59690" y="3418840"/>
                  </a:lnTo>
                  <a:lnTo>
                    <a:pt x="59690" y="59690"/>
                  </a:lnTo>
                  <a:lnTo>
                    <a:pt x="6125351" y="59690"/>
                  </a:lnTo>
                  <a:lnTo>
                    <a:pt x="6125351" y="3418840"/>
                  </a:lnTo>
                  <a:close/>
                </a:path>
              </a:pathLst>
            </a:custGeom>
            <a:solidFill>
              <a:srgbClr val="FDFDFD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700960" y="2294074"/>
            <a:ext cx="2493796" cy="3041215"/>
          </a:xfrm>
          <a:custGeom>
            <a:avLst/>
            <a:gdLst/>
            <a:ahLst/>
            <a:cxnLst/>
            <a:rect r="r" b="b" t="t" l="l"/>
            <a:pathLst>
              <a:path h="3041215" w="2493796">
                <a:moveTo>
                  <a:pt x="0" y="0"/>
                </a:moveTo>
                <a:lnTo>
                  <a:pt x="2493797" y="0"/>
                </a:lnTo>
                <a:lnTo>
                  <a:pt x="2493797" y="3041215"/>
                </a:lnTo>
                <a:lnTo>
                  <a:pt x="0" y="30412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00467" y="6173489"/>
            <a:ext cx="2983389" cy="2912533"/>
          </a:xfrm>
          <a:custGeom>
            <a:avLst/>
            <a:gdLst/>
            <a:ahLst/>
            <a:cxnLst/>
            <a:rect r="r" b="b" t="t" l="l"/>
            <a:pathLst>
              <a:path h="2912533" w="2983389">
                <a:moveTo>
                  <a:pt x="0" y="0"/>
                </a:moveTo>
                <a:lnTo>
                  <a:pt x="2983389" y="0"/>
                </a:lnTo>
                <a:lnTo>
                  <a:pt x="2983389" y="2912534"/>
                </a:lnTo>
                <a:lnTo>
                  <a:pt x="0" y="29125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00960" y="389694"/>
            <a:ext cx="11956988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00"/>
              </a:lnSpc>
            </a:pPr>
            <a:r>
              <a:rPr lang="en-US" sz="8000" spc="-400" b="true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CONTEXTO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483856" y="2847391"/>
            <a:ext cx="11320289" cy="1877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35"/>
              </a:lnSpc>
            </a:pPr>
            <a:r>
              <a:rPr lang="en-US" sz="2668" spc="-53" b="true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EduControl nace como respuesta a la necesidad del Colegio Instituto América de gestionar de manera centralizada las notas y asistencias de sus estudiantes. Actualmente, este proceso se realiza con planillas manuales, lo que genera duplicidad de información, errores y falta de trazabilidad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483856" y="6662465"/>
            <a:ext cx="11320289" cy="2349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35"/>
              </a:lnSpc>
            </a:pPr>
            <a:r>
              <a:rPr lang="en-US" sz="2668" spc="-53" b="true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EduControl Contara con un sistema web el cual va a permitir poder transparentar de manera eficiente datos al momento como lo son :Notas y Asistencia. Y de igual forma poder facilitar el proceso para profesores al momento de querer ingresar las notas , y a su vez a Inspectoria establecer la asistencia como corresponde y sin errores.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67371" y="2982577"/>
            <a:ext cx="16213685" cy="5179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8"/>
              </a:lnSpc>
            </a:pPr>
            <a:r>
              <a:rPr lang="en-US" sz="2470" b="true">
                <a:solidFill>
                  <a:srgbClr val="545454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FASE 1 (3 SEMANAS ):LEVANTAMIENTO DE REQUISITOS Y LA PREPARACION DE EN QUE CAMINO SEGUIR PARA LLEGAR A LA SOLUCIÓN</a:t>
            </a:r>
          </a:p>
          <a:p>
            <a:pPr algn="l">
              <a:lnSpc>
                <a:spcPts val="3458"/>
              </a:lnSpc>
            </a:pPr>
            <a:r>
              <a:rPr lang="en-US" sz="2470" b="true">
                <a:solidFill>
                  <a:srgbClr val="545454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ESTADO : COMPLETADO </a:t>
            </a:r>
          </a:p>
          <a:p>
            <a:pPr algn="l">
              <a:lnSpc>
                <a:spcPts val="3458"/>
              </a:lnSpc>
            </a:pPr>
            <a:r>
              <a:rPr lang="en-US" sz="2470" b="true">
                <a:solidFill>
                  <a:srgbClr val="545454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FASE 2 (6 SEMANAS ):DESARROLLO DE MOCKUPS , DESARROLLO DE APLICACIÓN , VISTAS 4 +1 , DESARROLLO MVP WEB y MOVIL</a:t>
            </a:r>
          </a:p>
          <a:p>
            <a:pPr algn="l">
              <a:lnSpc>
                <a:spcPts val="3458"/>
              </a:lnSpc>
            </a:pPr>
            <a:r>
              <a:rPr lang="en-US" sz="2470" b="true">
                <a:solidFill>
                  <a:srgbClr val="545454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ESTADO : MEDIANAMENTE COMPLETO </a:t>
            </a:r>
          </a:p>
          <a:p>
            <a:pPr algn="l">
              <a:lnSpc>
                <a:spcPts val="3458"/>
              </a:lnSpc>
            </a:pPr>
            <a:r>
              <a:rPr lang="en-US" sz="2470" b="true">
                <a:solidFill>
                  <a:srgbClr val="545454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FASE 3 (2 SEMANAS) : REALIZACION DE PRUEBAS DE FUNCIONAMIENTO </a:t>
            </a:r>
          </a:p>
          <a:p>
            <a:pPr algn="l">
              <a:lnSpc>
                <a:spcPts val="3458"/>
              </a:lnSpc>
            </a:pPr>
            <a:r>
              <a:rPr lang="en-US" sz="2470" b="true">
                <a:solidFill>
                  <a:srgbClr val="545454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ESTADO : INCOMPLETO</a:t>
            </a:r>
          </a:p>
          <a:p>
            <a:pPr algn="l">
              <a:lnSpc>
                <a:spcPts val="3458"/>
              </a:lnSpc>
            </a:pPr>
            <a:r>
              <a:rPr lang="en-US" sz="2470" b="true">
                <a:solidFill>
                  <a:srgbClr val="545454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FASE 4 (1 SEMANA): DESPLIEGUE Y CAPACITACIÓN.</a:t>
            </a:r>
          </a:p>
          <a:p>
            <a:pPr algn="l">
              <a:lnSpc>
                <a:spcPts val="3458"/>
              </a:lnSpc>
            </a:pPr>
            <a:r>
              <a:rPr lang="en-US" sz="2470" b="true">
                <a:solidFill>
                  <a:srgbClr val="545454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ESTADO INCOMPLETO</a:t>
            </a:r>
          </a:p>
          <a:p>
            <a:pPr algn="l">
              <a:lnSpc>
                <a:spcPts val="3458"/>
              </a:lnSpc>
            </a:pPr>
          </a:p>
          <a:p>
            <a:pPr algn="l">
              <a:lnSpc>
                <a:spcPts val="3458"/>
              </a:lnSpc>
            </a:pPr>
            <a:r>
              <a:rPr lang="en-US" sz="2470" b="true">
                <a:solidFill>
                  <a:srgbClr val="545454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EN TOTAL LLEVAMOS UN 30% DE AVANCE CONTANDO CON LO PRESENTADO EL DIA DE HOY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867371" y="8231810"/>
            <a:ext cx="1971370" cy="1878178"/>
          </a:xfrm>
          <a:custGeom>
            <a:avLst/>
            <a:gdLst/>
            <a:ahLst/>
            <a:cxnLst/>
            <a:rect r="r" b="b" t="t" l="l"/>
            <a:pathLst>
              <a:path h="1878178" w="1971370">
                <a:moveTo>
                  <a:pt x="0" y="0"/>
                </a:moveTo>
                <a:lnTo>
                  <a:pt x="1971371" y="0"/>
                </a:lnTo>
                <a:lnTo>
                  <a:pt x="1971371" y="1878178"/>
                </a:lnTo>
                <a:lnTo>
                  <a:pt x="0" y="18781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568100" y="243666"/>
            <a:ext cx="1674178" cy="2586511"/>
          </a:xfrm>
          <a:custGeom>
            <a:avLst/>
            <a:gdLst/>
            <a:ahLst/>
            <a:cxnLst/>
            <a:rect r="r" b="b" t="t" l="l"/>
            <a:pathLst>
              <a:path h="2586511" w="1674178">
                <a:moveTo>
                  <a:pt x="0" y="0"/>
                </a:moveTo>
                <a:lnTo>
                  <a:pt x="1674178" y="0"/>
                </a:lnTo>
                <a:lnTo>
                  <a:pt x="1674178" y="2586511"/>
                </a:lnTo>
                <a:lnTo>
                  <a:pt x="0" y="25865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275278" y="53313"/>
            <a:ext cx="9233077" cy="2589539"/>
            <a:chOff x="0" y="0"/>
            <a:chExt cx="12310769" cy="3452719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412127"/>
              <a:ext cx="12310769" cy="30405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800"/>
                </a:lnSpc>
              </a:pPr>
              <a:r>
                <a:rPr lang="en-US" sz="8000" spc="-400" b="true">
                  <a:solidFill>
                    <a:srgbClr val="000000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Estado de Avance</a:t>
              </a:r>
            </a:p>
            <a:p>
              <a:pPr algn="l">
                <a:lnSpc>
                  <a:spcPts val="8800"/>
                </a:lnSpc>
              </a:pP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28575"/>
              <a:ext cx="12310769" cy="364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38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867371" y="2407902"/>
            <a:ext cx="7020633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545454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FECHA DE REVISIÓN DE AVANCE :03-10-2025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67371" y="1829569"/>
            <a:ext cx="7020633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545454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INICIO DE MEDICIÓN DE AVANCE : 22-08-2025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990568" y="1528427"/>
            <a:ext cx="15442067" cy="7798632"/>
          </a:xfrm>
          <a:custGeom>
            <a:avLst/>
            <a:gdLst/>
            <a:ahLst/>
            <a:cxnLst/>
            <a:rect r="r" b="b" t="t" l="l"/>
            <a:pathLst>
              <a:path h="7798632" w="15442067">
                <a:moveTo>
                  <a:pt x="0" y="0"/>
                </a:moveTo>
                <a:lnTo>
                  <a:pt x="15442066" y="0"/>
                </a:lnTo>
                <a:lnTo>
                  <a:pt x="15442066" y="7798632"/>
                </a:lnTo>
                <a:lnTo>
                  <a:pt x="0" y="77986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75278" y="53313"/>
            <a:ext cx="14763753" cy="1475114"/>
            <a:chOff x="0" y="0"/>
            <a:chExt cx="19685004" cy="1966819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412127"/>
              <a:ext cx="19685004" cy="15546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800"/>
                </a:lnSpc>
              </a:pPr>
              <a:r>
                <a:rPr lang="en-US" sz="8000" spc="-400" b="true">
                  <a:solidFill>
                    <a:srgbClr val="000000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MODELO ENTIDAD RELACIÓN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-28575"/>
              <a:ext cx="19685004" cy="364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380"/>
                </a:lnSpc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74879" y="-528404"/>
            <a:ext cx="19689129" cy="11075135"/>
            <a:chOff x="0" y="0"/>
            <a:chExt cx="6186311" cy="3479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186311" cy="3479800"/>
            </a:xfrm>
            <a:custGeom>
              <a:avLst/>
              <a:gdLst/>
              <a:ahLst/>
              <a:cxnLst/>
              <a:rect r="r" b="b" t="t" l="l"/>
              <a:pathLst>
                <a:path h="3479800" w="6186311">
                  <a:moveTo>
                    <a:pt x="0" y="0"/>
                  </a:moveTo>
                  <a:lnTo>
                    <a:pt x="0" y="3479800"/>
                  </a:lnTo>
                  <a:lnTo>
                    <a:pt x="6186311" y="3479800"/>
                  </a:lnTo>
                  <a:lnTo>
                    <a:pt x="6186311" y="0"/>
                  </a:lnTo>
                  <a:lnTo>
                    <a:pt x="0" y="0"/>
                  </a:lnTo>
                  <a:close/>
                  <a:moveTo>
                    <a:pt x="6125351" y="3418840"/>
                  </a:moveTo>
                  <a:lnTo>
                    <a:pt x="59690" y="3418840"/>
                  </a:lnTo>
                  <a:lnTo>
                    <a:pt x="59690" y="59690"/>
                  </a:lnTo>
                  <a:lnTo>
                    <a:pt x="6125351" y="59690"/>
                  </a:lnTo>
                  <a:lnTo>
                    <a:pt x="6125351" y="3418840"/>
                  </a:lnTo>
                  <a:close/>
                </a:path>
              </a:pathLst>
            </a:custGeom>
            <a:solidFill>
              <a:srgbClr val="FDFDFD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143807" y="1505314"/>
            <a:ext cx="3029394" cy="1704013"/>
            <a:chOff x="0" y="0"/>
            <a:chExt cx="11289030" cy="635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287760" cy="6348735"/>
            </a:xfrm>
            <a:custGeom>
              <a:avLst/>
              <a:gdLst/>
              <a:ahLst/>
              <a:cxnLst/>
              <a:rect r="r" b="b" t="t" l="l"/>
              <a:pathLst>
                <a:path h="6348735" w="11287760">
                  <a:moveTo>
                    <a:pt x="0" y="5824220"/>
                  </a:moveTo>
                  <a:lnTo>
                    <a:pt x="0" y="525780"/>
                  </a:lnTo>
                  <a:cubicBezTo>
                    <a:pt x="0" y="234950"/>
                    <a:pt x="234950" y="0"/>
                    <a:pt x="525780" y="0"/>
                  </a:cubicBezTo>
                  <a:lnTo>
                    <a:pt x="10761980" y="0"/>
                  </a:lnTo>
                  <a:cubicBezTo>
                    <a:pt x="11052810" y="0"/>
                    <a:pt x="11287760" y="234950"/>
                    <a:pt x="11287760" y="525780"/>
                  </a:cubicBezTo>
                  <a:lnTo>
                    <a:pt x="11287760" y="5822950"/>
                  </a:lnTo>
                  <a:cubicBezTo>
                    <a:pt x="11287760" y="6113780"/>
                    <a:pt x="11052810" y="6348730"/>
                    <a:pt x="10761980" y="6348730"/>
                  </a:cubicBezTo>
                  <a:lnTo>
                    <a:pt x="525780" y="6348730"/>
                  </a:lnTo>
                  <a:cubicBezTo>
                    <a:pt x="236220" y="6350000"/>
                    <a:pt x="0" y="6115050"/>
                    <a:pt x="0" y="5824220"/>
                  </a:cubicBezTo>
                  <a:close/>
                </a:path>
              </a:pathLst>
            </a:custGeom>
            <a:blipFill>
              <a:blip r:embed="rId2"/>
              <a:stretch>
                <a:fillRect l="0" t="-9265" r="0" b="-9265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7143807" y="4291494"/>
            <a:ext cx="3029394" cy="1704013"/>
            <a:chOff x="0" y="0"/>
            <a:chExt cx="11289030" cy="635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287760" cy="6348735"/>
            </a:xfrm>
            <a:custGeom>
              <a:avLst/>
              <a:gdLst/>
              <a:ahLst/>
              <a:cxnLst/>
              <a:rect r="r" b="b" t="t" l="l"/>
              <a:pathLst>
                <a:path h="6348735" w="11287760">
                  <a:moveTo>
                    <a:pt x="0" y="5824220"/>
                  </a:moveTo>
                  <a:lnTo>
                    <a:pt x="0" y="525780"/>
                  </a:lnTo>
                  <a:cubicBezTo>
                    <a:pt x="0" y="234950"/>
                    <a:pt x="234950" y="0"/>
                    <a:pt x="525780" y="0"/>
                  </a:cubicBezTo>
                  <a:lnTo>
                    <a:pt x="10761980" y="0"/>
                  </a:lnTo>
                  <a:cubicBezTo>
                    <a:pt x="11052810" y="0"/>
                    <a:pt x="11287760" y="234950"/>
                    <a:pt x="11287760" y="525780"/>
                  </a:cubicBezTo>
                  <a:lnTo>
                    <a:pt x="11287760" y="5822950"/>
                  </a:lnTo>
                  <a:cubicBezTo>
                    <a:pt x="11287760" y="6113780"/>
                    <a:pt x="11052810" y="6348730"/>
                    <a:pt x="10761980" y="6348730"/>
                  </a:cubicBezTo>
                  <a:lnTo>
                    <a:pt x="525780" y="6348730"/>
                  </a:lnTo>
                  <a:cubicBezTo>
                    <a:pt x="236220" y="6350000"/>
                    <a:pt x="0" y="6115050"/>
                    <a:pt x="0" y="5824220"/>
                  </a:cubicBezTo>
                  <a:close/>
                </a:path>
              </a:pathLst>
            </a:custGeom>
            <a:blipFill>
              <a:blip r:embed="rId3"/>
              <a:stretch>
                <a:fillRect l="0" t="-9283" r="0" b="-9283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143807" y="6929022"/>
            <a:ext cx="3029394" cy="1704013"/>
            <a:chOff x="0" y="0"/>
            <a:chExt cx="1128903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287760" cy="6348735"/>
            </a:xfrm>
            <a:custGeom>
              <a:avLst/>
              <a:gdLst/>
              <a:ahLst/>
              <a:cxnLst/>
              <a:rect r="r" b="b" t="t" l="l"/>
              <a:pathLst>
                <a:path h="6348735" w="11287760">
                  <a:moveTo>
                    <a:pt x="0" y="5824220"/>
                  </a:moveTo>
                  <a:lnTo>
                    <a:pt x="0" y="525780"/>
                  </a:lnTo>
                  <a:cubicBezTo>
                    <a:pt x="0" y="234950"/>
                    <a:pt x="234950" y="0"/>
                    <a:pt x="525780" y="0"/>
                  </a:cubicBezTo>
                  <a:lnTo>
                    <a:pt x="10761980" y="0"/>
                  </a:lnTo>
                  <a:cubicBezTo>
                    <a:pt x="11052810" y="0"/>
                    <a:pt x="11287760" y="234950"/>
                    <a:pt x="11287760" y="525780"/>
                  </a:cubicBezTo>
                  <a:lnTo>
                    <a:pt x="11287760" y="5822950"/>
                  </a:lnTo>
                  <a:cubicBezTo>
                    <a:pt x="11287760" y="6113780"/>
                    <a:pt x="11052810" y="6348730"/>
                    <a:pt x="10761980" y="6348730"/>
                  </a:cubicBezTo>
                  <a:lnTo>
                    <a:pt x="525780" y="6348730"/>
                  </a:lnTo>
                  <a:cubicBezTo>
                    <a:pt x="236220" y="6350000"/>
                    <a:pt x="0" y="6115050"/>
                    <a:pt x="0" y="5824220"/>
                  </a:cubicBezTo>
                  <a:close/>
                </a:path>
              </a:pathLst>
            </a:custGeom>
            <a:blipFill>
              <a:blip r:embed="rId4"/>
              <a:stretch>
                <a:fillRect l="0" t="-9228" r="0" b="-9228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173201" y="4818569"/>
            <a:ext cx="6800012" cy="72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545454"/>
                </a:solidFill>
                <a:latin typeface="Proxima Nova"/>
                <a:ea typeface="Proxima Nova"/>
                <a:cs typeface="Proxima Nova"/>
                <a:sym typeface="Proxima Nova"/>
              </a:rPr>
              <a:t>PRESENTAR UN AVANCE DE FUNCIONAMIENTO DE CONSULTAS BASE DE DATOS 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459288" y="7212386"/>
            <a:ext cx="680001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545454"/>
                </a:solidFill>
                <a:latin typeface="Proxima Nova"/>
                <a:ea typeface="Proxima Nova"/>
                <a:cs typeface="Proxima Nova"/>
                <a:sym typeface="Proxima Nova"/>
              </a:rPr>
              <a:t>AVANCE CONECXION ENTRE AMBAS APLICACIONES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62211" y="300560"/>
            <a:ext cx="7117699" cy="337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00"/>
              </a:lnSpc>
            </a:pPr>
            <a:r>
              <a:rPr lang="en-US" sz="8000" spc="-400" b="true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COMPROMISOS PROXIMA SESIÓN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173201" y="1858809"/>
            <a:ext cx="680001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545454"/>
                </a:solidFill>
                <a:latin typeface="Proxima Nova"/>
                <a:ea typeface="Proxima Nova"/>
                <a:cs typeface="Proxima Nova"/>
                <a:sym typeface="Proxima Nova"/>
              </a:rPr>
              <a:t>MOSTRAR VISTAS 4+1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DAG0GI_Rx0M</dc:identifier>
  <dcterms:modified xsi:type="dcterms:W3CDTF">2011-08-01T06:04:30Z</dcterms:modified>
  <cp:revision>1</cp:revision>
  <dc:title>El texto del párrafo</dc:title>
</cp:coreProperties>
</file>